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0B0B0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0B0B"/>
                </a:solidFill>
                <a:latin typeface="Arial"/>
              </a:rPr>
              <a:t>Growth of $1 — out-of-sample months (2007-2026)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numRef>
              <c:f>Sheet1!$A$2:$A$118</c:f>
              <c:numCache>
                <c:formatCode>@</c:formatCode>
                <c:ptCount val="117"/>
                <c:pt idx="0">
                  <c:v>2007-01</c:v>
                </c:pt>
                <c:pt idx="1">
                  <c:v>2007-03</c:v>
                </c:pt>
                <c:pt idx="2">
                  <c:v>2007-05</c:v>
                </c:pt>
                <c:pt idx="3">
                  <c:v>2007-07</c:v>
                </c:pt>
                <c:pt idx="4">
                  <c:v>2007-09</c:v>
                </c:pt>
                <c:pt idx="5">
                  <c:v>2007-11</c:v>
                </c:pt>
                <c:pt idx="6">
                  <c:v>2008-01</c:v>
                </c:pt>
                <c:pt idx="7">
                  <c:v>2008-03</c:v>
                </c:pt>
                <c:pt idx="8">
                  <c:v>2008-05</c:v>
                </c:pt>
                <c:pt idx="9">
                  <c:v>2008-07</c:v>
                </c:pt>
                <c:pt idx="10">
                  <c:v>2008-09</c:v>
                </c:pt>
                <c:pt idx="11">
                  <c:v>2008-11</c:v>
                </c:pt>
                <c:pt idx="12">
                  <c:v>2009-01</c:v>
                </c:pt>
                <c:pt idx="13">
                  <c:v>2009-03</c:v>
                </c:pt>
                <c:pt idx="14">
                  <c:v>2009-05</c:v>
                </c:pt>
                <c:pt idx="15">
                  <c:v>2009-07</c:v>
                </c:pt>
                <c:pt idx="16">
                  <c:v>2009-09</c:v>
                </c:pt>
                <c:pt idx="17">
                  <c:v>2009-11</c:v>
                </c:pt>
                <c:pt idx="18">
                  <c:v>2010-01</c:v>
                </c:pt>
                <c:pt idx="19">
                  <c:v>2010-03</c:v>
                </c:pt>
                <c:pt idx="20">
                  <c:v>2010-05</c:v>
                </c:pt>
                <c:pt idx="21">
                  <c:v>2010-07</c:v>
                </c:pt>
                <c:pt idx="22">
                  <c:v>2010-09</c:v>
                </c:pt>
                <c:pt idx="23">
                  <c:v>2010-11</c:v>
                </c:pt>
                <c:pt idx="24">
                  <c:v>2011-01</c:v>
                </c:pt>
                <c:pt idx="25">
                  <c:v>2011-03</c:v>
                </c:pt>
                <c:pt idx="26">
                  <c:v>2011-05</c:v>
                </c:pt>
                <c:pt idx="27">
                  <c:v>2011-07</c:v>
                </c:pt>
                <c:pt idx="28">
                  <c:v>2011-09</c:v>
                </c:pt>
                <c:pt idx="29">
                  <c:v>2011-11</c:v>
                </c:pt>
                <c:pt idx="30">
                  <c:v>2012-01</c:v>
                </c:pt>
                <c:pt idx="31">
                  <c:v>2012-03</c:v>
                </c:pt>
                <c:pt idx="32">
                  <c:v>2012-05</c:v>
                </c:pt>
                <c:pt idx="33">
                  <c:v>2012-07</c:v>
                </c:pt>
                <c:pt idx="34">
                  <c:v>2012-09</c:v>
                </c:pt>
                <c:pt idx="35">
                  <c:v>2012-11</c:v>
                </c:pt>
                <c:pt idx="36">
                  <c:v>2013-01</c:v>
                </c:pt>
                <c:pt idx="37">
                  <c:v>2013-03</c:v>
                </c:pt>
                <c:pt idx="38">
                  <c:v>2013-05</c:v>
                </c:pt>
                <c:pt idx="39">
                  <c:v>2013-07</c:v>
                </c:pt>
                <c:pt idx="40">
                  <c:v>2013-09</c:v>
                </c:pt>
                <c:pt idx="41">
                  <c:v>2013-11</c:v>
                </c:pt>
                <c:pt idx="42">
                  <c:v>2014-01</c:v>
                </c:pt>
                <c:pt idx="43">
                  <c:v>2014-03</c:v>
                </c:pt>
                <c:pt idx="44">
                  <c:v>2014-05</c:v>
                </c:pt>
                <c:pt idx="45">
                  <c:v>2014-07</c:v>
                </c:pt>
                <c:pt idx="46">
                  <c:v>2014-09</c:v>
                </c:pt>
                <c:pt idx="47">
                  <c:v>2014-11</c:v>
                </c:pt>
                <c:pt idx="48">
                  <c:v>2015-01</c:v>
                </c:pt>
                <c:pt idx="49">
                  <c:v>2015-03</c:v>
                </c:pt>
                <c:pt idx="50">
                  <c:v>2015-05</c:v>
                </c:pt>
                <c:pt idx="51">
                  <c:v>2015-07</c:v>
                </c:pt>
                <c:pt idx="52">
                  <c:v>2015-09</c:v>
                </c:pt>
                <c:pt idx="53">
                  <c:v>2015-11</c:v>
                </c:pt>
                <c:pt idx="54">
                  <c:v>2016-01</c:v>
                </c:pt>
                <c:pt idx="55">
                  <c:v>2016-03</c:v>
                </c:pt>
                <c:pt idx="56">
                  <c:v>2016-05</c:v>
                </c:pt>
                <c:pt idx="57">
                  <c:v>2016-07</c:v>
                </c:pt>
                <c:pt idx="58">
                  <c:v>2016-09</c:v>
                </c:pt>
                <c:pt idx="59">
                  <c:v>2016-11</c:v>
                </c:pt>
                <c:pt idx="60">
                  <c:v>2017-01</c:v>
                </c:pt>
                <c:pt idx="61">
                  <c:v>2017-03</c:v>
                </c:pt>
                <c:pt idx="62">
                  <c:v>2017-05</c:v>
                </c:pt>
                <c:pt idx="63">
                  <c:v>2017-07</c:v>
                </c:pt>
                <c:pt idx="64">
                  <c:v>2017-09</c:v>
                </c:pt>
                <c:pt idx="65">
                  <c:v>2017-11</c:v>
                </c:pt>
                <c:pt idx="66">
                  <c:v>2018-01</c:v>
                </c:pt>
                <c:pt idx="67">
                  <c:v>2018-03</c:v>
                </c:pt>
                <c:pt idx="68">
                  <c:v>2018-05</c:v>
                </c:pt>
                <c:pt idx="69">
                  <c:v>2018-07</c:v>
                </c:pt>
                <c:pt idx="70">
                  <c:v>2018-09</c:v>
                </c:pt>
                <c:pt idx="71">
                  <c:v>2018-11</c:v>
                </c:pt>
                <c:pt idx="72">
                  <c:v>2019-01</c:v>
                </c:pt>
                <c:pt idx="73">
                  <c:v>2019-03</c:v>
                </c:pt>
                <c:pt idx="74">
                  <c:v>2019-05</c:v>
                </c:pt>
                <c:pt idx="75">
                  <c:v>2019-07</c:v>
                </c:pt>
                <c:pt idx="76">
                  <c:v>2019-09</c:v>
                </c:pt>
                <c:pt idx="77">
                  <c:v>2019-11</c:v>
                </c:pt>
                <c:pt idx="78">
                  <c:v>2020-01</c:v>
                </c:pt>
                <c:pt idx="79">
                  <c:v>2020-03</c:v>
                </c:pt>
                <c:pt idx="80">
                  <c:v>2020-05</c:v>
                </c:pt>
                <c:pt idx="81">
                  <c:v>2020-07</c:v>
                </c:pt>
                <c:pt idx="82">
                  <c:v>2020-09</c:v>
                </c:pt>
                <c:pt idx="83">
                  <c:v>2020-11</c:v>
                </c:pt>
                <c:pt idx="84">
                  <c:v>2021-01</c:v>
                </c:pt>
                <c:pt idx="85">
                  <c:v>2021-03</c:v>
                </c:pt>
                <c:pt idx="86">
                  <c:v>2021-05</c:v>
                </c:pt>
                <c:pt idx="87">
                  <c:v>2021-07</c:v>
                </c:pt>
                <c:pt idx="88">
                  <c:v>2021-09</c:v>
                </c:pt>
                <c:pt idx="89">
                  <c:v>2021-11</c:v>
                </c:pt>
                <c:pt idx="90">
                  <c:v>2022-01</c:v>
                </c:pt>
                <c:pt idx="91">
                  <c:v>2022-03</c:v>
                </c:pt>
                <c:pt idx="92">
                  <c:v>2022-05</c:v>
                </c:pt>
                <c:pt idx="93">
                  <c:v>2022-07</c:v>
                </c:pt>
                <c:pt idx="94">
                  <c:v>2022-09</c:v>
                </c:pt>
                <c:pt idx="95">
                  <c:v>2022-11</c:v>
                </c:pt>
                <c:pt idx="96">
                  <c:v>2023-01</c:v>
                </c:pt>
                <c:pt idx="97">
                  <c:v>2023-03</c:v>
                </c:pt>
                <c:pt idx="98">
                  <c:v>2023-05</c:v>
                </c:pt>
                <c:pt idx="99">
                  <c:v>2023-07</c:v>
                </c:pt>
                <c:pt idx="100">
                  <c:v>2023-09</c:v>
                </c:pt>
                <c:pt idx="101">
                  <c:v>2023-11</c:v>
                </c:pt>
                <c:pt idx="102">
                  <c:v>2024-01</c:v>
                </c:pt>
                <c:pt idx="103">
                  <c:v>2024-03</c:v>
                </c:pt>
                <c:pt idx="104">
                  <c:v>2024-05</c:v>
                </c:pt>
                <c:pt idx="105">
                  <c:v>2024-07</c:v>
                </c:pt>
                <c:pt idx="106">
                  <c:v>2024-09</c:v>
                </c:pt>
                <c:pt idx="107">
                  <c:v>2024-11</c:v>
                </c:pt>
                <c:pt idx="108">
                  <c:v>2025-01</c:v>
                </c:pt>
                <c:pt idx="109">
                  <c:v>2025-03</c:v>
                </c:pt>
                <c:pt idx="110">
                  <c:v>2025-05</c:v>
                </c:pt>
                <c:pt idx="111">
                  <c:v>2025-07</c:v>
                </c:pt>
                <c:pt idx="112">
                  <c:v>2025-09</c:v>
                </c:pt>
                <c:pt idx="113">
                  <c:v>2025-11</c:v>
                </c:pt>
                <c:pt idx="114">
                  <c:v>2026-01</c:v>
                </c:pt>
                <c:pt idx="115">
                  <c:v>2026-03</c:v>
                </c:pt>
                <c:pt idx="116">
                  <c:v>2026-05</c:v>
                </c:pt>
              </c:numCache>
            </c:numRef>
          </c:cat>
          <c:val>
            <c:numRef>
              <c:f>Sheet1!$B$2:$B$118</c:f>
              <c:numCache>
                <c:formatCode>General</c:formatCode>
                <c:ptCount val="117"/>
                <c:pt idx="0">
                  <c:v>0.985</c:v>
                </c:pt>
                <c:pt idx="1">
                  <c:v>1.046</c:v>
                </c:pt>
                <c:pt idx="2">
                  <c:v>1.086</c:v>
                </c:pt>
                <c:pt idx="3">
                  <c:v>1.104</c:v>
                </c:pt>
                <c:pt idx="4">
                  <c:v>1.265</c:v>
                </c:pt>
                <c:pt idx="5">
                  <c:v>1.238</c:v>
                </c:pt>
                <c:pt idx="6">
                  <c:v>1.071</c:v>
                </c:pt>
                <c:pt idx="7">
                  <c:v>1.146</c:v>
                </c:pt>
                <c:pt idx="8">
                  <c:v>1.18</c:v>
                </c:pt>
                <c:pt idx="9">
                  <c:v>1.011</c:v>
                </c:pt>
                <c:pt idx="10">
                  <c:v>0.72</c:v>
                </c:pt>
                <c:pt idx="11">
                  <c:v>0.651</c:v>
                </c:pt>
                <c:pt idx="12">
                  <c:v>0.491</c:v>
                </c:pt>
                <c:pt idx="13">
                  <c:v>0.547</c:v>
                </c:pt>
                <c:pt idx="14">
                  <c:v>0.577</c:v>
                </c:pt>
                <c:pt idx="15">
                  <c:v>0.671</c:v>
                </c:pt>
                <c:pt idx="16">
                  <c:v>0.678</c:v>
                </c:pt>
                <c:pt idx="17">
                  <c:v>0.754</c:v>
                </c:pt>
                <c:pt idx="18">
                  <c:v>0.752</c:v>
                </c:pt>
                <c:pt idx="19">
                  <c:v>0.822</c:v>
                </c:pt>
                <c:pt idx="20">
                  <c:v>0.705</c:v>
                </c:pt>
                <c:pt idx="21">
                  <c:v>0.721</c:v>
                </c:pt>
                <c:pt idx="22">
                  <c:v>0.798</c:v>
                </c:pt>
                <c:pt idx="23">
                  <c:v>0.876</c:v>
                </c:pt>
                <c:pt idx="24">
                  <c:v>0.916</c:v>
                </c:pt>
                <c:pt idx="25">
                  <c:v>0.939</c:v>
                </c:pt>
                <c:pt idx="26">
                  <c:v>0.889</c:v>
                </c:pt>
                <c:pt idx="27">
                  <c:v>0.82</c:v>
                </c:pt>
                <c:pt idx="28">
                  <c:v>0.83</c:v>
                </c:pt>
                <c:pt idx="29">
                  <c:v>0.814</c:v>
                </c:pt>
                <c:pt idx="30">
                  <c:v>0.86</c:v>
                </c:pt>
                <c:pt idx="31">
                  <c:v>0.872</c:v>
                </c:pt>
                <c:pt idx="32">
                  <c:v>0.834</c:v>
                </c:pt>
                <c:pt idx="33">
                  <c:v>0.881</c:v>
                </c:pt>
                <c:pt idx="34">
                  <c:v>0.907</c:v>
                </c:pt>
                <c:pt idx="35">
                  <c:v>0.952</c:v>
                </c:pt>
                <c:pt idx="36">
                  <c:v>1.015</c:v>
                </c:pt>
                <c:pt idx="37">
                  <c:v>1.068</c:v>
                </c:pt>
                <c:pt idx="38">
                  <c:v>1.082</c:v>
                </c:pt>
                <c:pt idx="39">
                  <c:v>1.149</c:v>
                </c:pt>
                <c:pt idx="40">
                  <c:v>1.27</c:v>
                </c:pt>
                <c:pt idx="41">
                  <c:v>1.328</c:v>
                </c:pt>
                <c:pt idx="42">
                  <c:v>1.425</c:v>
                </c:pt>
                <c:pt idx="43">
                  <c:v>1.327</c:v>
                </c:pt>
                <c:pt idx="44">
                  <c:v>1.417</c:v>
                </c:pt>
                <c:pt idx="45">
                  <c:v>1.487</c:v>
                </c:pt>
                <c:pt idx="46">
                  <c:v>1.452</c:v>
                </c:pt>
                <c:pt idx="47">
                  <c:v>1.495</c:v>
                </c:pt>
                <c:pt idx="48">
                  <c:v>1.569</c:v>
                </c:pt>
                <c:pt idx="49">
                  <c:v>1.505</c:v>
                </c:pt>
                <c:pt idx="50">
                  <c:v>1.545</c:v>
                </c:pt>
                <c:pt idx="51">
                  <c:v>1.442</c:v>
                </c:pt>
                <c:pt idx="52">
                  <c:v>1.51</c:v>
                </c:pt>
                <c:pt idx="53">
                  <c:v>1.481</c:v>
                </c:pt>
                <c:pt idx="54">
                  <c:v>1.395</c:v>
                </c:pt>
                <c:pt idx="55">
                  <c:v>1.435</c:v>
                </c:pt>
                <c:pt idx="56">
                  <c:v>1.489</c:v>
                </c:pt>
                <c:pt idx="57">
                  <c:v>1.497</c:v>
                </c:pt>
                <c:pt idx="58">
                  <c:v>1.462</c:v>
                </c:pt>
                <c:pt idx="59">
                  <c:v>1.584</c:v>
                </c:pt>
                <c:pt idx="60">
                  <c:v>1.634</c:v>
                </c:pt>
                <c:pt idx="61">
                  <c:v>1.61</c:v>
                </c:pt>
                <c:pt idx="62">
                  <c:v>1.685</c:v>
                </c:pt>
                <c:pt idx="63">
                  <c:v>1.819</c:v>
                </c:pt>
                <c:pt idx="64">
                  <c:v>1.916</c:v>
                </c:pt>
                <c:pt idx="65">
                  <c:v>2.072</c:v>
                </c:pt>
                <c:pt idx="66">
                  <c:v>2.151</c:v>
                </c:pt>
                <c:pt idx="67">
                  <c:v>2.156</c:v>
                </c:pt>
                <c:pt idx="68">
                  <c:v>2.231</c:v>
                </c:pt>
                <c:pt idx="69">
                  <c:v>2.37</c:v>
                </c:pt>
                <c:pt idx="70">
                  <c:v>2.183</c:v>
                </c:pt>
                <c:pt idx="71">
                  <c:v>2.063</c:v>
                </c:pt>
                <c:pt idx="72">
                  <c:v>2.251</c:v>
                </c:pt>
                <c:pt idx="73">
                  <c:v>2.375</c:v>
                </c:pt>
                <c:pt idx="74">
                  <c:v>2.354</c:v>
                </c:pt>
                <c:pt idx="75">
                  <c:v>2.244</c:v>
                </c:pt>
                <c:pt idx="76">
                  <c:v>2.212</c:v>
                </c:pt>
                <c:pt idx="77">
                  <c:v>2.31</c:v>
                </c:pt>
                <c:pt idx="78">
                  <c:v>2.064</c:v>
                </c:pt>
                <c:pt idx="79">
                  <c:v>1.758</c:v>
                </c:pt>
                <c:pt idx="80">
                  <c:v>1.94</c:v>
                </c:pt>
                <c:pt idx="81">
                  <c:v>2.178</c:v>
                </c:pt>
                <c:pt idx="82">
                  <c:v>2.049</c:v>
                </c:pt>
                <c:pt idx="83">
                  <c:v>2.509</c:v>
                </c:pt>
                <c:pt idx="84">
                  <c:v>3.084</c:v>
                </c:pt>
                <c:pt idx="85">
                  <c:v>3.233</c:v>
                </c:pt>
                <c:pt idx="86">
                  <c:v>3.434</c:v>
                </c:pt>
                <c:pt idx="87">
                  <c:v>3.55</c:v>
                </c:pt>
                <c:pt idx="88">
                  <c:v>3.584</c:v>
                </c:pt>
                <c:pt idx="89">
                  <c:v>3.511</c:v>
                </c:pt>
                <c:pt idx="90">
                  <c:v>3.312</c:v>
                </c:pt>
                <c:pt idx="91">
                  <c:v>3.247</c:v>
                </c:pt>
                <c:pt idx="92">
                  <c:v>3.033</c:v>
                </c:pt>
                <c:pt idx="93">
                  <c:v>3.24</c:v>
                </c:pt>
                <c:pt idx="94">
                  <c:v>3.445</c:v>
                </c:pt>
                <c:pt idx="95">
                  <c:v>3.318</c:v>
                </c:pt>
                <c:pt idx="96">
                  <c:v>3.425</c:v>
                </c:pt>
                <c:pt idx="97">
                  <c:v>3.402</c:v>
                </c:pt>
                <c:pt idx="98">
                  <c:v>3.858</c:v>
                </c:pt>
                <c:pt idx="99">
                  <c:v>3.817</c:v>
                </c:pt>
                <c:pt idx="100">
                  <c:v>3.377</c:v>
                </c:pt>
                <c:pt idx="101">
                  <c:v>4.115</c:v>
                </c:pt>
                <c:pt idx="102">
                  <c:v>4.369</c:v>
                </c:pt>
                <c:pt idx="103">
                  <c:v>4.283</c:v>
                </c:pt>
                <c:pt idx="104">
                  <c:v>4.39</c:v>
                </c:pt>
                <c:pt idx="105">
                  <c:v>4.338</c:v>
                </c:pt>
                <c:pt idx="106">
                  <c:v>4.421</c:v>
                </c:pt>
                <c:pt idx="107">
                  <c:v>4.819</c:v>
                </c:pt>
                <c:pt idx="108">
                  <c:v>4.844</c:v>
                </c:pt>
                <c:pt idx="109">
                  <c:v>4.548</c:v>
                </c:pt>
                <c:pt idx="110">
                  <c:v>5.182</c:v>
                </c:pt>
                <c:pt idx="111">
                  <c:v>5.128</c:v>
                </c:pt>
                <c:pt idx="112">
                  <c:v>5.874</c:v>
                </c:pt>
                <c:pt idx="113">
                  <c:v>5.788</c:v>
                </c:pt>
                <c:pt idx="114">
                  <c:v>6.321</c:v>
                </c:pt>
                <c:pt idx="115">
                  <c:v>6.897</c:v>
                </c:pt>
                <c:pt idx="116">
                  <c:v>7.854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9AA0A6"/>
            </a:solidFill>
            <a:ln w="31750" cap="flat">
              <a:solidFill>
                <a:srgbClr val="9AA0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0A6"/>
              </a:solidFill>
              <a:ln w="9525" cap="flat">
                <a:solidFill>
                  <a:srgbClr val="9AA0A6"/>
                </a:solidFill>
                <a:prstDash val="solid"/>
                <a:round/>
              </a:ln>
              <a:effectLst/>
            </c:spPr>
          </c:marker>
          <c:cat>
            <c:numRef>
              <c:f>Sheet1!$A$2:$A$118</c:f>
              <c:numCache>
                <c:formatCode>@</c:formatCode>
                <c:ptCount val="117"/>
                <c:pt idx="0">
                  <c:v>2007-01</c:v>
                </c:pt>
                <c:pt idx="1">
                  <c:v>2007-03</c:v>
                </c:pt>
                <c:pt idx="2">
                  <c:v>2007-05</c:v>
                </c:pt>
                <c:pt idx="3">
                  <c:v>2007-07</c:v>
                </c:pt>
                <c:pt idx="4">
                  <c:v>2007-09</c:v>
                </c:pt>
                <c:pt idx="5">
                  <c:v>2007-11</c:v>
                </c:pt>
                <c:pt idx="6">
                  <c:v>2008-01</c:v>
                </c:pt>
                <c:pt idx="7">
                  <c:v>2008-03</c:v>
                </c:pt>
                <c:pt idx="8">
                  <c:v>2008-05</c:v>
                </c:pt>
                <c:pt idx="9">
                  <c:v>2008-07</c:v>
                </c:pt>
                <c:pt idx="10">
                  <c:v>2008-09</c:v>
                </c:pt>
                <c:pt idx="11">
                  <c:v>2008-11</c:v>
                </c:pt>
                <c:pt idx="12">
                  <c:v>2009-01</c:v>
                </c:pt>
                <c:pt idx="13">
                  <c:v>2009-03</c:v>
                </c:pt>
                <c:pt idx="14">
                  <c:v>2009-05</c:v>
                </c:pt>
                <c:pt idx="15">
                  <c:v>2009-07</c:v>
                </c:pt>
                <c:pt idx="16">
                  <c:v>2009-09</c:v>
                </c:pt>
                <c:pt idx="17">
                  <c:v>2009-11</c:v>
                </c:pt>
                <c:pt idx="18">
                  <c:v>2010-01</c:v>
                </c:pt>
                <c:pt idx="19">
                  <c:v>2010-03</c:v>
                </c:pt>
                <c:pt idx="20">
                  <c:v>2010-05</c:v>
                </c:pt>
                <c:pt idx="21">
                  <c:v>2010-07</c:v>
                </c:pt>
                <c:pt idx="22">
                  <c:v>2010-09</c:v>
                </c:pt>
                <c:pt idx="23">
                  <c:v>2010-11</c:v>
                </c:pt>
                <c:pt idx="24">
                  <c:v>2011-01</c:v>
                </c:pt>
                <c:pt idx="25">
                  <c:v>2011-03</c:v>
                </c:pt>
                <c:pt idx="26">
                  <c:v>2011-05</c:v>
                </c:pt>
                <c:pt idx="27">
                  <c:v>2011-07</c:v>
                </c:pt>
                <c:pt idx="28">
                  <c:v>2011-09</c:v>
                </c:pt>
                <c:pt idx="29">
                  <c:v>2011-11</c:v>
                </c:pt>
                <c:pt idx="30">
                  <c:v>2012-01</c:v>
                </c:pt>
                <c:pt idx="31">
                  <c:v>2012-03</c:v>
                </c:pt>
                <c:pt idx="32">
                  <c:v>2012-05</c:v>
                </c:pt>
                <c:pt idx="33">
                  <c:v>2012-07</c:v>
                </c:pt>
                <c:pt idx="34">
                  <c:v>2012-09</c:v>
                </c:pt>
                <c:pt idx="35">
                  <c:v>2012-11</c:v>
                </c:pt>
                <c:pt idx="36">
                  <c:v>2013-01</c:v>
                </c:pt>
                <c:pt idx="37">
                  <c:v>2013-03</c:v>
                </c:pt>
                <c:pt idx="38">
                  <c:v>2013-05</c:v>
                </c:pt>
                <c:pt idx="39">
                  <c:v>2013-07</c:v>
                </c:pt>
                <c:pt idx="40">
                  <c:v>2013-09</c:v>
                </c:pt>
                <c:pt idx="41">
                  <c:v>2013-11</c:v>
                </c:pt>
                <c:pt idx="42">
                  <c:v>2014-01</c:v>
                </c:pt>
                <c:pt idx="43">
                  <c:v>2014-03</c:v>
                </c:pt>
                <c:pt idx="44">
                  <c:v>2014-05</c:v>
                </c:pt>
                <c:pt idx="45">
                  <c:v>2014-07</c:v>
                </c:pt>
                <c:pt idx="46">
                  <c:v>2014-09</c:v>
                </c:pt>
                <c:pt idx="47">
                  <c:v>2014-11</c:v>
                </c:pt>
                <c:pt idx="48">
                  <c:v>2015-01</c:v>
                </c:pt>
                <c:pt idx="49">
                  <c:v>2015-03</c:v>
                </c:pt>
                <c:pt idx="50">
                  <c:v>2015-05</c:v>
                </c:pt>
                <c:pt idx="51">
                  <c:v>2015-07</c:v>
                </c:pt>
                <c:pt idx="52">
                  <c:v>2015-09</c:v>
                </c:pt>
                <c:pt idx="53">
                  <c:v>2015-11</c:v>
                </c:pt>
                <c:pt idx="54">
                  <c:v>2016-01</c:v>
                </c:pt>
                <c:pt idx="55">
                  <c:v>2016-03</c:v>
                </c:pt>
                <c:pt idx="56">
                  <c:v>2016-05</c:v>
                </c:pt>
                <c:pt idx="57">
                  <c:v>2016-07</c:v>
                </c:pt>
                <c:pt idx="58">
                  <c:v>2016-09</c:v>
                </c:pt>
                <c:pt idx="59">
                  <c:v>2016-11</c:v>
                </c:pt>
                <c:pt idx="60">
                  <c:v>2017-01</c:v>
                </c:pt>
                <c:pt idx="61">
                  <c:v>2017-03</c:v>
                </c:pt>
                <c:pt idx="62">
                  <c:v>2017-05</c:v>
                </c:pt>
                <c:pt idx="63">
                  <c:v>2017-07</c:v>
                </c:pt>
                <c:pt idx="64">
                  <c:v>2017-09</c:v>
                </c:pt>
                <c:pt idx="65">
                  <c:v>2017-11</c:v>
                </c:pt>
                <c:pt idx="66">
                  <c:v>2018-01</c:v>
                </c:pt>
                <c:pt idx="67">
                  <c:v>2018-03</c:v>
                </c:pt>
                <c:pt idx="68">
                  <c:v>2018-05</c:v>
                </c:pt>
                <c:pt idx="69">
                  <c:v>2018-07</c:v>
                </c:pt>
                <c:pt idx="70">
                  <c:v>2018-09</c:v>
                </c:pt>
                <c:pt idx="71">
                  <c:v>2018-11</c:v>
                </c:pt>
                <c:pt idx="72">
                  <c:v>2019-01</c:v>
                </c:pt>
                <c:pt idx="73">
                  <c:v>2019-03</c:v>
                </c:pt>
                <c:pt idx="74">
                  <c:v>2019-05</c:v>
                </c:pt>
                <c:pt idx="75">
                  <c:v>2019-07</c:v>
                </c:pt>
                <c:pt idx="76">
                  <c:v>2019-09</c:v>
                </c:pt>
                <c:pt idx="77">
                  <c:v>2019-11</c:v>
                </c:pt>
                <c:pt idx="78">
                  <c:v>2020-01</c:v>
                </c:pt>
                <c:pt idx="79">
                  <c:v>2020-03</c:v>
                </c:pt>
                <c:pt idx="80">
                  <c:v>2020-05</c:v>
                </c:pt>
                <c:pt idx="81">
                  <c:v>2020-07</c:v>
                </c:pt>
                <c:pt idx="82">
                  <c:v>2020-09</c:v>
                </c:pt>
                <c:pt idx="83">
                  <c:v>2020-11</c:v>
                </c:pt>
                <c:pt idx="84">
                  <c:v>2021-01</c:v>
                </c:pt>
                <c:pt idx="85">
                  <c:v>2021-03</c:v>
                </c:pt>
                <c:pt idx="86">
                  <c:v>2021-05</c:v>
                </c:pt>
                <c:pt idx="87">
                  <c:v>2021-07</c:v>
                </c:pt>
                <c:pt idx="88">
                  <c:v>2021-09</c:v>
                </c:pt>
                <c:pt idx="89">
                  <c:v>2021-11</c:v>
                </c:pt>
                <c:pt idx="90">
                  <c:v>2022-01</c:v>
                </c:pt>
                <c:pt idx="91">
                  <c:v>2022-03</c:v>
                </c:pt>
                <c:pt idx="92">
                  <c:v>2022-05</c:v>
                </c:pt>
                <c:pt idx="93">
                  <c:v>2022-07</c:v>
                </c:pt>
                <c:pt idx="94">
                  <c:v>2022-09</c:v>
                </c:pt>
                <c:pt idx="95">
                  <c:v>2022-11</c:v>
                </c:pt>
                <c:pt idx="96">
                  <c:v>2023-01</c:v>
                </c:pt>
                <c:pt idx="97">
                  <c:v>2023-03</c:v>
                </c:pt>
                <c:pt idx="98">
                  <c:v>2023-05</c:v>
                </c:pt>
                <c:pt idx="99">
                  <c:v>2023-07</c:v>
                </c:pt>
                <c:pt idx="100">
                  <c:v>2023-09</c:v>
                </c:pt>
                <c:pt idx="101">
                  <c:v>2023-11</c:v>
                </c:pt>
                <c:pt idx="102">
                  <c:v>2024-01</c:v>
                </c:pt>
                <c:pt idx="103">
                  <c:v>2024-03</c:v>
                </c:pt>
                <c:pt idx="104">
                  <c:v>2024-05</c:v>
                </c:pt>
                <c:pt idx="105">
                  <c:v>2024-07</c:v>
                </c:pt>
                <c:pt idx="106">
                  <c:v>2024-09</c:v>
                </c:pt>
                <c:pt idx="107">
                  <c:v>2024-11</c:v>
                </c:pt>
                <c:pt idx="108">
                  <c:v>2025-01</c:v>
                </c:pt>
                <c:pt idx="109">
                  <c:v>2025-03</c:v>
                </c:pt>
                <c:pt idx="110">
                  <c:v>2025-05</c:v>
                </c:pt>
                <c:pt idx="111">
                  <c:v>2025-07</c:v>
                </c:pt>
                <c:pt idx="112">
                  <c:v>2025-09</c:v>
                </c:pt>
                <c:pt idx="113">
                  <c:v>2025-11</c:v>
                </c:pt>
                <c:pt idx="114">
                  <c:v>2026-01</c:v>
                </c:pt>
                <c:pt idx="115">
                  <c:v>2026-03</c:v>
                </c:pt>
                <c:pt idx="116">
                  <c:v>2026-05</c:v>
                </c:pt>
              </c:numCache>
            </c:numRef>
          </c:cat>
          <c:val>
            <c:numRef>
              <c:f>Sheet1!$C$2:$C$118</c:f>
              <c:numCache>
                <c:formatCode>General</c:formatCode>
                <c:ptCount val="117"/>
                <c:pt idx="0">
                  <c:v>0.98</c:v>
                </c:pt>
                <c:pt idx="1">
                  <c:v>1.036</c:v>
                </c:pt>
                <c:pt idx="2">
                  <c:v>1.055</c:v>
                </c:pt>
                <c:pt idx="3">
                  <c:v>1.035</c:v>
                </c:pt>
                <c:pt idx="4">
                  <c:v>1.09</c:v>
                </c:pt>
                <c:pt idx="5">
                  <c:v>1.036</c:v>
                </c:pt>
                <c:pt idx="6">
                  <c:v>0.948</c:v>
                </c:pt>
                <c:pt idx="7">
                  <c:v>0.984</c:v>
                </c:pt>
                <c:pt idx="8">
                  <c:v>0.916</c:v>
                </c:pt>
                <c:pt idx="9">
                  <c:v>0.922</c:v>
                </c:pt>
                <c:pt idx="10">
                  <c:v>0.697</c:v>
                </c:pt>
                <c:pt idx="11">
                  <c:v>0.655</c:v>
                </c:pt>
                <c:pt idx="12">
                  <c:v>0.536</c:v>
                </c:pt>
                <c:pt idx="13">
                  <c:v>0.639</c:v>
                </c:pt>
                <c:pt idx="14">
                  <c:v>0.676</c:v>
                </c:pt>
                <c:pt idx="15">
                  <c:v>0.753</c:v>
                </c:pt>
                <c:pt idx="16">
                  <c:v>0.765</c:v>
                </c:pt>
                <c:pt idx="17">
                  <c:v>0.827</c:v>
                </c:pt>
                <c:pt idx="18">
                  <c:v>0.822</c:v>
                </c:pt>
                <c:pt idx="19">
                  <c:v>0.886</c:v>
                </c:pt>
                <c:pt idx="20">
                  <c:v>0.773</c:v>
                </c:pt>
                <c:pt idx="21">
                  <c:v>0.789</c:v>
                </c:pt>
                <c:pt idx="22">
                  <c:v>0.892</c:v>
                </c:pt>
                <c:pt idx="23">
                  <c:v>0.952</c:v>
                </c:pt>
                <c:pt idx="24">
                  <c:v>1.008</c:v>
                </c:pt>
                <c:pt idx="25">
                  <c:v>1.037</c:v>
                </c:pt>
                <c:pt idx="26">
                  <c:v>1.008</c:v>
                </c:pt>
                <c:pt idx="27">
                  <c:v>0.934</c:v>
                </c:pt>
                <c:pt idx="28">
                  <c:v>0.964</c:v>
                </c:pt>
                <c:pt idx="29">
                  <c:v>0.97</c:v>
                </c:pt>
                <c:pt idx="30">
                  <c:v>1.059</c:v>
                </c:pt>
                <c:pt idx="31">
                  <c:v>1.086</c:v>
                </c:pt>
                <c:pt idx="32">
                  <c:v>1.062</c:v>
                </c:pt>
                <c:pt idx="33">
                  <c:v>1.101</c:v>
                </c:pt>
                <c:pt idx="34">
                  <c:v>1.109</c:v>
                </c:pt>
                <c:pt idx="35">
                  <c:v>1.125</c:v>
                </c:pt>
                <c:pt idx="36">
                  <c:v>1.198</c:v>
                </c:pt>
                <c:pt idx="37">
                  <c:v>1.267</c:v>
                </c:pt>
                <c:pt idx="38">
                  <c:v>1.28</c:v>
                </c:pt>
                <c:pt idx="39">
                  <c:v>1.305</c:v>
                </c:pt>
                <c:pt idx="40">
                  <c:v>1.409</c:v>
                </c:pt>
                <c:pt idx="41">
                  <c:v>1.488</c:v>
                </c:pt>
                <c:pt idx="42">
                  <c:v>1.501</c:v>
                </c:pt>
                <c:pt idx="43">
                  <c:v>1.524</c:v>
                </c:pt>
                <c:pt idx="44">
                  <c:v>1.592</c:v>
                </c:pt>
                <c:pt idx="45">
                  <c:v>1.632</c:v>
                </c:pt>
                <c:pt idx="46">
                  <c:v>1.648</c:v>
                </c:pt>
                <c:pt idx="47">
                  <c:v>1.689</c:v>
                </c:pt>
                <c:pt idx="48">
                  <c:v>1.731</c:v>
                </c:pt>
                <c:pt idx="49">
                  <c:v>1.72</c:v>
                </c:pt>
                <c:pt idx="50">
                  <c:v>1.707</c:v>
                </c:pt>
                <c:pt idx="51">
                  <c:v>1.639</c:v>
                </c:pt>
                <c:pt idx="52">
                  <c:v>1.733</c:v>
                </c:pt>
                <c:pt idx="53">
                  <c:v>1.71</c:v>
                </c:pt>
                <c:pt idx="54">
                  <c:v>1.623</c:v>
                </c:pt>
                <c:pt idx="55">
                  <c:v>1.739</c:v>
                </c:pt>
                <c:pt idx="56">
                  <c:v>1.775</c:v>
                </c:pt>
                <c:pt idx="57">
                  <c:v>1.842</c:v>
                </c:pt>
                <c:pt idx="58">
                  <c:v>1.81</c:v>
                </c:pt>
                <c:pt idx="59">
                  <c:v>1.915</c:v>
                </c:pt>
                <c:pt idx="60">
                  <c:v>2.026</c:v>
                </c:pt>
                <c:pt idx="61">
                  <c:v>2.048</c:v>
                </c:pt>
                <c:pt idx="62">
                  <c:v>2.09</c:v>
                </c:pt>
                <c:pt idx="63">
                  <c:v>2.14</c:v>
                </c:pt>
                <c:pt idx="64">
                  <c:v>2.234</c:v>
                </c:pt>
                <c:pt idx="65">
                  <c:v>2.33</c:v>
                </c:pt>
                <c:pt idx="66">
                  <c:v>2.372</c:v>
                </c:pt>
                <c:pt idx="67">
                  <c:v>2.319</c:v>
                </c:pt>
                <c:pt idx="68">
                  <c:v>2.389</c:v>
                </c:pt>
                <c:pt idx="69">
                  <c:v>2.557</c:v>
                </c:pt>
                <c:pt idx="70">
                  <c:v>2.394</c:v>
                </c:pt>
                <c:pt idx="71">
                  <c:v>2.224</c:v>
                </c:pt>
                <c:pt idx="72">
                  <c:v>2.48</c:v>
                </c:pt>
                <c:pt idx="73">
                  <c:v>2.628</c:v>
                </c:pt>
                <c:pt idx="74">
                  <c:v>2.631</c:v>
                </c:pt>
                <c:pt idx="75">
                  <c:v>2.626</c:v>
                </c:pt>
                <c:pt idx="76">
                  <c:v>2.737</c:v>
                </c:pt>
                <c:pt idx="77">
                  <c:v>2.918</c:v>
                </c:pt>
                <c:pt idx="78">
                  <c:v>2.686</c:v>
                </c:pt>
                <c:pt idx="79">
                  <c:v>2.649</c:v>
                </c:pt>
                <c:pt idx="80">
                  <c:v>2.825</c:v>
                </c:pt>
                <c:pt idx="81">
                  <c:v>3.2</c:v>
                </c:pt>
                <c:pt idx="82">
                  <c:v>3.003</c:v>
                </c:pt>
                <c:pt idx="83">
                  <c:v>3.453</c:v>
                </c:pt>
                <c:pt idx="84">
                  <c:v>3.513</c:v>
                </c:pt>
                <c:pt idx="85">
                  <c:v>3.867</c:v>
                </c:pt>
                <c:pt idx="86">
                  <c:v>3.98</c:v>
                </c:pt>
                <c:pt idx="87">
                  <c:v>4.198</c:v>
                </c:pt>
                <c:pt idx="88">
                  <c:v>4.283</c:v>
                </c:pt>
                <c:pt idx="89">
                  <c:v>4.445</c:v>
                </c:pt>
                <c:pt idx="90">
                  <c:v>4.087</c:v>
                </c:pt>
                <c:pt idx="91">
                  <c:v>3.868</c:v>
                </c:pt>
                <c:pt idx="92">
                  <c:v>3.557</c:v>
                </c:pt>
                <c:pt idx="93">
                  <c:v>3.726</c:v>
                </c:pt>
                <c:pt idx="94">
                  <c:v>3.656</c:v>
                </c:pt>
                <c:pt idx="95">
                  <c:v>3.637</c:v>
                </c:pt>
                <c:pt idx="96">
                  <c:v>3.769</c:v>
                </c:pt>
                <c:pt idx="97">
                  <c:v>3.971</c:v>
                </c:pt>
                <c:pt idx="98">
                  <c:v>4.248</c:v>
                </c:pt>
                <c:pt idx="99">
                  <c:v>4.316</c:v>
                </c:pt>
                <c:pt idx="100">
                  <c:v>4.022</c:v>
                </c:pt>
                <c:pt idx="101">
                  <c:v>4.589</c:v>
                </c:pt>
                <c:pt idx="102">
                  <c:v>4.906</c:v>
                </c:pt>
                <c:pt idx="103">
                  <c:v>4.862</c:v>
                </c:pt>
                <c:pt idx="104">
                  <c:v>5.288</c:v>
                </c:pt>
                <c:pt idx="105">
                  <c:v>5.477</c:v>
                </c:pt>
                <c:pt idx="106">
                  <c:v>5.542</c:v>
                </c:pt>
                <c:pt idx="107">
                  <c:v>5.732</c:v>
                </c:pt>
                <c:pt idx="108">
                  <c:v>5.811</c:v>
                </c:pt>
                <c:pt idx="109">
                  <c:v>5.439</c:v>
                </c:pt>
                <c:pt idx="110">
                  <c:v>6.078</c:v>
                </c:pt>
                <c:pt idx="111">
                  <c:v>6.346</c:v>
                </c:pt>
                <c:pt idx="112">
                  <c:v>6.729</c:v>
                </c:pt>
                <c:pt idx="113">
                  <c:v>6.747</c:v>
                </c:pt>
                <c:pt idx="114">
                  <c:v>6.787</c:v>
                </c:pt>
                <c:pt idx="115">
                  <c:v>7.13</c:v>
                </c:pt>
                <c:pt idx="116">
                  <c:v>7.428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dateAx>
        <c:axId val="2094734554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4"/>
      </c:date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2514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  <c:pt idx="19">
                    <c:v>2026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4.5</c:v>
                </c:pt>
                <c:pt idx="1">
                  <c:v>-47.6</c:v>
                </c:pt>
                <c:pt idx="2">
                  <c:v>28.6</c:v>
                </c:pt>
                <c:pt idx="3">
                  <c:v>23.2</c:v>
                </c:pt>
                <c:pt idx="4">
                  <c:v>-4.9</c:v>
                </c:pt>
                <c:pt idx="5">
                  <c:v>23.1</c:v>
                </c:pt>
                <c:pt idx="6">
                  <c:v>30.7</c:v>
                </c:pt>
                <c:pt idx="7">
                  <c:v>11.9</c:v>
                </c:pt>
                <c:pt idx="8">
                  <c:v>-6.5</c:v>
                </c:pt>
                <c:pt idx="9">
                  <c:v>19</c:v>
                </c:pt>
                <c:pt idx="10">
                  <c:v>34.8</c:v>
                </c:pt>
                <c:pt idx="11">
                  <c:v>-2.3</c:v>
                </c:pt>
                <c:pt idx="12">
                  <c:v>4</c:v>
                </c:pt>
                <c:pt idx="13">
                  <c:v>12.9</c:v>
                </c:pt>
                <c:pt idx="14">
                  <c:v>21.7</c:v>
                </c:pt>
                <c:pt idx="15">
                  <c:v>13.7</c:v>
                </c:pt>
                <c:pt idx="16">
                  <c:v>15.4</c:v>
                </c:pt>
                <c:pt idx="17">
                  <c:v>27.3</c:v>
                </c:pt>
                <c:pt idx="18">
                  <c:v>18</c:v>
                </c:pt>
                <c:pt idx="19">
                  <c:v>24.2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C9CD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  <c:pt idx="19">
                    <c:v>2026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-2.7</c:v>
                </c:pt>
                <c:pt idx="1">
                  <c:v>-38.3</c:v>
                </c:pt>
                <c:pt idx="2">
                  <c:v>32.7</c:v>
                </c:pt>
                <c:pt idx="3">
                  <c:v>22.2</c:v>
                </c:pt>
                <c:pt idx="4">
                  <c:v>4.2</c:v>
                </c:pt>
                <c:pt idx="5">
                  <c:v>16.5</c:v>
                </c:pt>
                <c:pt idx="6">
                  <c:v>21.4</c:v>
                </c:pt>
                <c:pt idx="7">
                  <c:v>14.1</c:v>
                </c:pt>
                <c:pt idx="8">
                  <c:v>-0.9</c:v>
                </c:pt>
                <c:pt idx="9">
                  <c:v>20</c:v>
                </c:pt>
                <c:pt idx="10">
                  <c:v>26.3</c:v>
                </c:pt>
                <c:pt idx="11">
                  <c:v>-2.4</c:v>
                </c:pt>
                <c:pt idx="12">
                  <c:v>21.4</c:v>
                </c:pt>
                <c:pt idx="13">
                  <c:v>17.2</c:v>
                </c:pt>
                <c:pt idx="14">
                  <c:v>23.2</c:v>
                </c:pt>
                <c:pt idx="15">
                  <c:v>-8.2</c:v>
                </c:pt>
                <c:pt idx="16">
                  <c:v>20.6</c:v>
                </c:pt>
                <c:pt idx="17">
                  <c:v>26.2</c:v>
                </c:pt>
                <c:pt idx="18">
                  <c:v>16.3</c:v>
                </c:pt>
                <c:pt idx="19">
                  <c:v>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-12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\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2514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project: an end-to-end systematic equity strategy. The pitch is not the return number — it is the research process: data forensics, pre-registered validation, and honest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recipe as institutional factor investing: weak per-stock signal, harvested across many names and months with strict construction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differentiator: most student projects show inflated numbers from dirty data. This one hunted its own biases and reports the deflation openly.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framing: this is the COMPLETE-data result. On 79% coverage the strategy showed alpha 3.1 (t 1.19); completing delisted coverage to 89% eliminated it — alpha −0.4 (t −0.15). The number to lead with is the honesty arc, not the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Interviewers probe whether you understand drawdowns. Volunteering the losing years before being asked signals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rejection in detail if asked — e.g. the fundamentals gate: literature signs, t&gt;=1.0 on 2010-2017, confirmation on 2018+; nothing passed, so nothing shipped. If pressed: adopted changes were selected on subsets of the same tracked window, so headline stats carry some selection bias — the live ledger is the clean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talking points that transfer to any quant conversation: beta vs alpha, breadth, overfitting, factor decay.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whether it works live: the first ledger row completes at the end of July 2026; per protocol, no claims until 12 rows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limitations before being asked is the strongest credibility signal available in an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meta-skill: the ability to try to falsify your own work is the job description of a quant researcher.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QUANTITATIVE RESEARCH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Cross-Sectional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Strategy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momentum ranking of S&amp;P 500 constituents —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audited, and paper-trading live with a locked, append-only record.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0" cy="73152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864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13232" y="52486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months (2007-2026)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6704" y="4892040"/>
            <a:ext cx="0" cy="73152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4864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994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11296" y="52486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universe incl. delisted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4892040"/>
            <a:ext cx="0" cy="73152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4864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09360" y="52486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— 7 rejected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42832" y="4892040"/>
            <a:ext cx="0" cy="73152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4864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07424" y="52486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live tracking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 Rasmussen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disciplined momentum machine, rebuilt monthly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79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655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834640" y="161848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prices for S&amp;P 500 members since 2003, rebuilt across two vendors to 89% member-month coverage — including companies that later died. Point-in-time membership, so the model never sees the future.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5236" y="2148840"/>
            <a:ext cx="0" cy="658368"/>
          </a:xfrm>
          <a:prstGeom prst="line">
            <a:avLst/>
          </a:prstGeom>
          <a:noFill/>
          <a:ln w="19050">
            <a:solidFill>
              <a:srgbClr val="D8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62072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483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825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price/volume features (momentum, trend quality, volatility, range position) scored by a gradient-boosted model, trained walk-forward, blended 50/50 with 6-month momentum.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" y="3319272"/>
            <a:ext cx="0" cy="658368"/>
          </a:xfrm>
          <a:prstGeom prst="line">
            <a:avLst/>
          </a:prstGeom>
          <a:noFill/>
          <a:ln w="19050">
            <a:solidFill>
              <a:srgbClr val="D8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32504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187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995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34640" y="3959352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~30 names, conviction-weighted. 10% position cap, 30% sector cap, turnover limits, 15 bps/side modeled costs.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5236" y="4489704"/>
            <a:ext cx="0" cy="658368"/>
          </a:xfrm>
          <a:prstGeom prst="line">
            <a:avLst/>
          </a:prstGeom>
          <a:noFill/>
          <a:ln w="19050">
            <a:solidFill>
              <a:srgbClr val="D8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202936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892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834640" y="5129784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rebalance, zero human overrides. Every portfolio locked in a timestamped snapshot before returns occur.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MOST BACKTESTS SILENTLY LIE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forensics before any modeling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81051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LACKING DATA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203911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of 777 test-window members — ≈ a quarter of member-months, mostly losers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/>
        </p:spPr>
      </p:sp>
      <p:sp>
        <p:nvSpPr>
          <p:cNvPr id="9" name="Text 7"/>
          <p:cNvSpPr/>
          <p:nvPr/>
        </p:nvSpPr>
        <p:spPr>
          <a:xfrm>
            <a:off x="4471416" y="181051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AFTER REBUILD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71416" y="203911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→ 89%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71416" y="260604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+ two-vendor recovery, 365 identifiers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81051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SERIES CAUGHT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0" y="203911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gates, every exclusion logged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37413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 deletes dead companies. Rebuilt the universe from a 994-ticker membership union with rename mapping (ANTM→ELV, PCLN→BKNG) and delisted-price recovery.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453128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" y="4343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Ticker-reuse contamination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price series continuing past corporate death (e.g. “BBBY” quoting in 2026). Membership-window truncation removes them mechanically, no judgment calls.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22392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531266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 included, delisting exits charged, 15 bps/side costs, execution-timing sensitivity measured at approximately zero.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honesty fix lowered the backtest — 25.7% → 20.1% → 15.0% → 11.0% annualized. The final fix erased the edge; the truth got complete.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BACKTEST · 2003-2026 DATA · NET OF COSTS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and what they honestly mean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64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500: 10.8%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4136" y="164592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2F5FB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1764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ALPHA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38728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−0.4%/yr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38728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−0.15 · beta 1.14 · no edge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64592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2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1764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64224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64224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0.70 · return/vol, same convention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25128" y="1645920"/>
            <a:ext cx="2615184" cy="1325880"/>
          </a:xfrm>
          <a:prstGeom prst="roundRect">
            <a:avLst>
              <a:gd name="adj" fmla="val 5517"/>
            </a:avLst>
          </a:prstGeom>
          <a:solidFill>
            <a:srgbClr val="F2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764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89720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897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months vs SPY — a coin flip</a:t>
            </a:r>
            <a:endParaRPr lang="en-US" sz="10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3200400"/>
          <a:ext cx="11091672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BY YEAR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of twenty years lag the index — a coin flip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9167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complete data the strategy lags the index in 10 of 20 years.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symmetry — with hit rate 51.7% of months — is exactly what alpha of approximately zero looks like. On the earlier, incomplete data the same chart appeared to show a persistent edge.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hypotheses, pre-registered rules, seven rejections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1672" cy="502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7276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(score) weighting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609344"/>
            <a:ext cx="1234440" cy="310896"/>
          </a:xfrm>
          <a:prstGeom prst="rect">
            <a:avLst/>
          </a:prstGeom>
          <a:solidFill>
            <a:srgbClr val="0063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0" y="15727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+1.4pp/yr, Sharpe up, beta flat — confirmed on three samples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756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position cap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12264"/>
            <a:ext cx="1234440" cy="310896"/>
          </a:xfrm>
          <a:prstGeom prst="rect">
            <a:avLst/>
          </a:prstGeom>
          <a:solidFill>
            <a:srgbClr val="0063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207568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return cost; max single-name risk 12.9% → 10%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11091672" cy="502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786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(top 10-20)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615184"/>
            <a:ext cx="1234440" cy="310896"/>
          </a:xfrm>
          <a:prstGeom prst="rect">
            <a:avLst/>
          </a:prstGeom>
          <a:solidFill>
            <a:srgbClr val="D0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25786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in disguise (1.16 → 1.31 in that test's pre-adoption config); Sharpe fell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08152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Inverse-volatility weights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118104"/>
            <a:ext cx="1234440" cy="310896"/>
          </a:xfrm>
          <a:prstGeom prst="rect">
            <a:avLst/>
          </a:prstGeom>
          <a:solidFill>
            <a:srgbClr val="D0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0" y="30815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excess return roughly in half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11091672" cy="502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844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Volatility-target overlay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21024"/>
            <a:ext cx="1234440" cy="310896"/>
          </a:xfrm>
          <a:prstGeom prst="rect">
            <a:avLst/>
          </a:prstGeom>
          <a:solidFill>
            <a:srgbClr val="D0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3584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alpha on the tested sample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08736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factors ×3 (SEC EDGAR)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123944"/>
            <a:ext cx="1234440" cy="310896"/>
          </a:xfrm>
          <a:prstGeom prst="rect">
            <a:avLst/>
          </a:prstGeom>
          <a:solidFill>
            <a:srgbClr val="D0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40873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t ≈ 0.55; accruals sign flipped; asset growth wrong sign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35424"/>
            <a:ext cx="11091672" cy="502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5902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momentum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4626864"/>
            <a:ext cx="1234440" cy="310896"/>
          </a:xfrm>
          <a:prstGeom prst="rect">
            <a:avLst/>
          </a:prstGeom>
          <a:solidFill>
            <a:srgbClr val="D0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459028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3.1% → 0.0% — correlated features fed the model noise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0932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timing (robustness check)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5129784"/>
            <a:ext cx="1234440" cy="310896"/>
          </a:xfrm>
          <a:prstGeom prst="rect">
            <a:avLst/>
          </a:prstGeom>
          <a:solidFill>
            <a:srgbClr val="2A78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50932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Next-open vs close: return unchanged — implementable as modeled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541264"/>
            <a:ext cx="11091672" cy="502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59612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Complete-data retest of adopted choices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5632704"/>
            <a:ext cx="1234440" cy="310896"/>
          </a:xfrm>
          <a:prstGeom prst="rect">
            <a:avLst/>
          </a:prstGeom>
          <a:solidFill>
            <a:srgbClr val="5251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0" y="55961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89% coverage no variant retains alpha — the gains were survivorship artifacts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23620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rules were committed before results were seen — and the final retest was allowed to overturn even the accepted answers.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the data taught 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is the master bias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245059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apparent +4pp/yr edge — alpha 3.1, t 1.19 — was eliminated entirely by recovering the dead companies free data had deleted. Stripping bias comes before stripping beta.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27064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</p:spPr>
      </p:sp>
      <p:sp>
        <p:nvSpPr>
          <p:cNvPr id="8" name="Text 6"/>
          <p:cNvSpPr/>
          <p:nvPr/>
        </p:nvSpPr>
        <p:spPr>
          <a:xfrm>
            <a:off x="6483096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coin leans — and fragile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83096" y="245059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portfolio's 55% month-win rate on incomplete data fell to 51.7% on complete data: the coin's lean was borrowed from the missing losers.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2245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can subtract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04672" y="464515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two plausible momentum features destroyed the alpha entirely. With weak signals, model capacity is a liability, not an asset.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27064" y="402336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2F5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096" y="42245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factors have decayed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83096" y="464515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Profitability, accruals and asset growth — decades of citations — no longer clear a pre-registered gate in US large caps. Published edges get arbitraged.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PAPER RECORD — BEGAN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track record no backtest can fake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08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snapshots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231136"/>
            <a:ext cx="4864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month's portfolio is frozen in a timestamped, append-only file before its returns occur — OneDrive version history provides the tamper evidence.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27064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27064" y="18608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57416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brokerage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57416" y="2231136"/>
            <a:ext cx="4864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$100k account executes whole-share orders at month-end closes with fees; full blotter, positions, and P&amp;L.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26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ledger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197096"/>
            <a:ext cx="4864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month graded at real prices vs SPY, net of costs — one row per month, never edited.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27064" y="3840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3826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57416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automation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57416" y="4197096"/>
            <a:ext cx="4864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runs (monthly rebalance + daily marks) with failure tripwires and a written operations manual. No human in the loop.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at 12 ledger rows; decisions at 24. Until then the protocol is: run, record, do not touch.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LIMITS, REAL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not — and where it goes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49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−0.4%/yr (t = −0.15) on complete data: no demonstrable edge — index-like returns at 1.14× the risk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1.14 — falls harder than the index in crashes (2008: -37% vs -27%)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 family (momentum); fundamentals failed the gate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member-months remain unobtainable; the 79%→89% completion moved returns −4pp/yr, so the residual gap is a real caveat on an already-null result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17830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2148840"/>
            <a:ext cx="5349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the live record — it now tests the null result out of sample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Mid-cap universe: a preliminary cross-market test (survivorship-biased data, haircut estimate ~3-4pp/yr vs ~2pp here) suggests a larger edge — to be validated under the same gates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markets, not more parameters — breadth is the honest way to scale a weak signal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920240"/>
            <a:ext cx="0" cy="3291840"/>
          </a:xfrm>
          <a:prstGeom prst="line">
            <a:avLst/>
          </a:prstGeom>
          <a:noFill/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isn't the return.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process that survives scrutiny.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4069080"/>
            <a:ext cx="0" cy="77724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041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data,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43708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and audited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6704" y="4069080"/>
            <a:ext cx="0" cy="77724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1296" y="4041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tests,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11296" y="43708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them failed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4069080"/>
            <a:ext cx="0" cy="77724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4041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statistics,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43708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claimed only with its t-stat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42832" y="4069080"/>
            <a:ext cx="0" cy="77724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7424" y="4041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evidence,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07424" y="43708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untouched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 Rasmussen  ·  full audit trail, code, and live ledger available on request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Systematic Cross-Sectional Equity Strategy</dc:title>
  <dc:subject>PptxGenJS Presentation</dc:subject>
  <dc:creator>Evan Rasmussen</dc:creator>
  <cp:lastModifiedBy>Evan Rasmussen</cp:lastModifiedBy>
  <cp:revision>1</cp:revision>
  <dcterms:created xsi:type="dcterms:W3CDTF">2026-07-22T22:00:51Z</dcterms:created>
  <dcterms:modified xsi:type="dcterms:W3CDTF">2026-07-22T22:00:51Z</dcterms:modified>
</cp:coreProperties>
</file>